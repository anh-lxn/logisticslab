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41" r:id="rId2"/>
  </p:sldMasterIdLst>
  <p:notesMasterIdLst>
    <p:notesMasterId r:id="rId20"/>
  </p:notesMasterIdLst>
  <p:handoutMasterIdLst>
    <p:handoutMasterId r:id="rId21"/>
  </p:handoutMasterIdLst>
  <p:sldIdLst>
    <p:sldId id="288" r:id="rId3"/>
    <p:sldId id="287" r:id="rId4"/>
    <p:sldId id="289" r:id="rId5"/>
    <p:sldId id="295" r:id="rId6"/>
    <p:sldId id="290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296" r:id="rId16"/>
    <p:sldId id="308" r:id="rId17"/>
    <p:sldId id="306" r:id="rId18"/>
    <p:sldId id="307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ayoutvorgaben" id="{DD2DFCEF-2E9A-4480-B679-985C63BC599A}">
          <p14:sldIdLst/>
        </p14:section>
        <p14:section name="Titelfolien Beispiele" id="{47A4B4CB-9BBE-4F9F-864A-8CEBC3A5A2DC}">
          <p14:sldIdLst/>
        </p14:section>
        <p14:section name="Inhaltsfolien Beispiele" id="{812B3FE3-D71B-4EA9-B64B-DF3D6F727DCF}">
          <p14:sldIdLst>
            <p14:sldId id="288"/>
            <p14:sldId id="287"/>
            <p14:sldId id="289"/>
            <p14:sldId id="295"/>
            <p14:sldId id="290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296"/>
            <p14:sldId id="308"/>
            <p14:sldId id="306"/>
            <p14:sldId id="307"/>
          </p14:sldIdLst>
        </p14:section>
        <p14:section name="Abschnittsbeginn Beispiele" id="{7C66181E-F771-4793-99ED-2CCF400E0BF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8C"/>
    <a:srgbClr val="2F57B2"/>
    <a:srgbClr val="323F4B"/>
    <a:srgbClr val="FFFFFF"/>
    <a:srgbClr val="000000"/>
    <a:srgbClr val="00005A"/>
    <a:srgbClr val="97C6FF"/>
    <a:srgbClr val="C8C8FF"/>
    <a:srgbClr val="FFB9FF"/>
    <a:srgbClr val="FFAA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5137" autoAdjust="0"/>
  </p:normalViewPr>
  <p:slideViewPr>
    <p:cSldViewPr snapToGrid="0" showGuides="1">
      <p:cViewPr>
        <p:scale>
          <a:sx n="125" d="100"/>
          <a:sy n="125" d="100"/>
        </p:scale>
        <p:origin x="1584" y="7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8403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84260DF-C685-4FF6-A43E-7F93FB3E64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8901AA-A65C-4D7D-B03E-B88B42C819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67984-F0B9-4D31-A8F6-8AF021B9C2E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3CA3E7-8995-4D33-854F-35DAE52EA9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351F65-D033-4BD6-A4AB-E115D806FB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32D436-8D5A-47CC-AED7-9827D8D395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42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960CC-0992-4111-87D3-C02B03B2EA6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EB764-55E2-4077-8C7A-EB9EFE7145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3365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2.svg"/><Relationship Id="rId4" Type="http://schemas.openxmlformats.org/officeDocument/2006/relationships/image" Target="../media/image3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E24BA-B819-4480-B7C5-BEEF871BD6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 Schriftgröße 32pt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AB754-52DE-483E-9141-006ADE49988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de-DE" dirty="0"/>
              <a:t>Mastertextformat Schriftgröße 20pt</a:t>
            </a:r>
            <a:br>
              <a:rPr lang="de-DE" dirty="0"/>
            </a:br>
            <a:r>
              <a:rPr lang="de-DE" dirty="0"/>
              <a:t>(Kann vergrößert werden auf 24pt, Minimum Schriftgröße 16 </a:t>
            </a:r>
            <a:r>
              <a:rPr lang="de-DE" dirty="0" err="1"/>
              <a:t>pt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Die Schriftgrößen wurde in folgenden Räumen getestet</a:t>
            </a:r>
          </a:p>
          <a:p>
            <a:pPr lvl="2"/>
            <a:r>
              <a:rPr lang="de-DE" dirty="0"/>
              <a:t>HSZ Audimax</a:t>
            </a:r>
          </a:p>
          <a:p>
            <a:pPr lvl="2"/>
            <a:r>
              <a:rPr lang="de-DE" dirty="0"/>
              <a:t>HSZ Hörsaal 3</a:t>
            </a:r>
          </a:p>
          <a:p>
            <a:pPr lvl="2"/>
            <a:r>
              <a:rPr lang="de-DE" dirty="0"/>
              <a:t>HSZ Seminarraum klein</a:t>
            </a:r>
          </a:p>
          <a:p>
            <a:pPr lvl="1"/>
            <a:r>
              <a:rPr lang="de-DE" dirty="0"/>
              <a:t>In allen drei Räumen ist 20 und 24 </a:t>
            </a:r>
            <a:r>
              <a:rPr lang="de-DE" dirty="0" err="1"/>
              <a:t>pt</a:t>
            </a:r>
            <a:r>
              <a:rPr lang="de-DE" dirty="0"/>
              <a:t> gut lesbar. Im </a:t>
            </a:r>
            <a:r>
              <a:rPr lang="de-DE" dirty="0" err="1"/>
              <a:t>Seminaraum</a:t>
            </a:r>
            <a:r>
              <a:rPr lang="de-DE" dirty="0"/>
              <a:t> ist 16 </a:t>
            </a:r>
            <a:r>
              <a:rPr lang="de-DE" dirty="0" err="1"/>
              <a:t>pt</a:t>
            </a:r>
            <a:r>
              <a:rPr lang="de-DE" dirty="0"/>
              <a:t> grenzwertig klein.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6E97365-2970-48C5-8643-B05B104BD1F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8075614" y="6057900"/>
            <a:ext cx="3506786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Platz für Zweitlogos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71FF40-B767-4E15-B8F5-6DAC252E9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Schutzraum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07D106F-3835-4287-88EB-AAAD315A8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Schutzraum</a:t>
            </a:r>
            <a:endParaRPr lang="en-US" dirty="0">
              <a:solidFill>
                <a:srgbClr val="BC15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325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7645A5-8081-48C3-B5F8-643B270F4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AE3C1A-CB2F-4CD1-90ED-300793FB0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FD2337E2-6B3B-430B-8F0C-236691AFA7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76156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B33AC041-1A6E-42F5-81A2-02C98A0F2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DA15133A-699F-4D35-8F40-4E67A2D2C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1"/>
            <a:ext cx="1980000" cy="660000"/>
          </a:xfrm>
          <a:prstGeom prst="rect">
            <a:avLst/>
          </a:prstGeom>
        </p:spPr>
      </p:pic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8BF6A3ED-341B-442E-8210-E4319907CA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rgbClr val="00008C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29693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8C2EC5D-CAE6-4D0D-876A-759A0D2C36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73381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A579EDF-77CB-4860-8B94-3DF47A80CB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94302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8C2EC5D-CAE6-4D0D-876A-759A0D2C36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42026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8C2EC5D-CAE6-4D0D-876A-759A0D2C36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89954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4CFE8FF-710D-4BD6-BF09-5899F316B5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EDF80472-EDBA-4F61-808F-F1F3B41F7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8276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4CFE8FF-710D-4BD6-BF09-5899F316B5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EDF80472-EDBA-4F61-808F-F1F3B41F7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5435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4CFE8FF-710D-4BD6-BF09-5899F316B5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EDF80472-EDBA-4F61-808F-F1F3B41F7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42650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455023C-E286-4137-97BF-103515D643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4" name="Grafik 1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2ABD550D-91E8-47A8-B795-738A4BCA96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085D84F3-0188-409A-9BD3-30A16A8588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84608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4" name="Grafik 1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2ABD550D-91E8-47A8-B795-738A4BCA96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BBB40F93-65D6-4149-B050-3391578239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0C08A1F-7110-46BF-80E3-5D4C853782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429797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12192000"/>
              <a:gd name="connsiteY0" fmla="*/ 0 h 6858000"/>
              <a:gd name="connsiteX1" fmla="*/ 7251700 w 12192000"/>
              <a:gd name="connsiteY1" fmla="*/ 1270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7785100"/>
              <a:gd name="connsiteY0" fmla="*/ 0 h 6858000"/>
              <a:gd name="connsiteX1" fmla="*/ 7251700 w 7785100"/>
              <a:gd name="connsiteY1" fmla="*/ 12700 h 6858000"/>
              <a:gd name="connsiteX2" fmla="*/ 7785100 w 7785100"/>
              <a:gd name="connsiteY2" fmla="*/ 6832600 h 6858000"/>
              <a:gd name="connsiteX3" fmla="*/ 0 w 7785100"/>
              <a:gd name="connsiteY3" fmla="*/ 6858000 h 6858000"/>
              <a:gd name="connsiteX4" fmla="*/ 0 w 7785100"/>
              <a:gd name="connsiteY4" fmla="*/ 0 h 6858000"/>
              <a:gd name="connsiteX0" fmla="*/ 0 w 8682083"/>
              <a:gd name="connsiteY0" fmla="*/ 0 h 6858000"/>
              <a:gd name="connsiteX1" fmla="*/ 8148683 w 8682083"/>
              <a:gd name="connsiteY1" fmla="*/ 12700 h 6858000"/>
              <a:gd name="connsiteX2" fmla="*/ 8682083 w 8682083"/>
              <a:gd name="connsiteY2" fmla="*/ 6832600 h 6858000"/>
              <a:gd name="connsiteX3" fmla="*/ 896983 w 8682083"/>
              <a:gd name="connsiteY3" fmla="*/ 6858000 h 6858000"/>
              <a:gd name="connsiteX4" fmla="*/ 0 w 8682083"/>
              <a:gd name="connsiteY4" fmla="*/ 0 h 6858000"/>
              <a:gd name="connsiteX0" fmla="*/ 26126 w 8708209"/>
              <a:gd name="connsiteY0" fmla="*/ 0 h 6840583"/>
              <a:gd name="connsiteX1" fmla="*/ 8174809 w 8708209"/>
              <a:gd name="connsiteY1" fmla="*/ 12700 h 6840583"/>
              <a:gd name="connsiteX2" fmla="*/ 8708209 w 8708209"/>
              <a:gd name="connsiteY2" fmla="*/ 6832600 h 6840583"/>
              <a:gd name="connsiteX3" fmla="*/ 0 w 8708209"/>
              <a:gd name="connsiteY3" fmla="*/ 6840583 h 6840583"/>
              <a:gd name="connsiteX4" fmla="*/ 26126 w 8708209"/>
              <a:gd name="connsiteY4" fmla="*/ 0 h 6840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4" name="Grafik 1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2ABD550D-91E8-47A8-B795-738A4BCA96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BBB40F93-65D6-4149-B050-3391578239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0C08A1F-7110-46BF-80E3-5D4C853782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37289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E24BA-B819-4480-B7C5-BEEF871B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AB754-52DE-483E-9141-006ADE499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632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05E3CC9-E682-422B-B7B9-2A2A3E01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82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2538BF5-19DF-4B5C-80A3-4548339C13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0BE6F2D-5EC5-4864-A9A0-FC3ECA391A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2380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3235066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CBECC23C-3AC7-4872-8833-394650436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80716C9-98F3-44C3-A27D-E96BE6D11A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FEFC7CA1-8B2C-4227-AB03-708CA25B75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CF89BD5-C523-4AD3-9AF6-B6AABF612D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6FE31676-EF83-4ECE-8009-0FC4D5A718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A4BDBAA4-F784-4AF6-8050-D275CB31D1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0324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6651BA5-A3F0-4102-8AB5-302B2F2EFD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7182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6F1AB9C3-872C-41DD-AAFB-12824DBEE8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E9E05B2F-0577-47C9-8146-C4868416C5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9EF6DC9D-F43A-4B05-BC55-F3417C310F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9C69ADDD-319E-4394-8BC9-FC045CE072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D28AB6FB-FFC3-4AE6-90AB-D58E7C728BA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744C123A-AE63-4AD9-ACB1-ADF4103150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6651BA5-A3F0-4102-8AB5-302B2F2EFD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F80E9119-D6F6-4FA2-9F16-025406D0F8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55313796-962D-4CF1-AC12-A82B83090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6663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D54C4-ACE0-4B7B-B43C-B80F732E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1816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4271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07AA28B-E0BB-4588-9126-08A9723C34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9D899A4-C882-4DED-9C15-ACC467479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5D0AE451-788D-480F-872A-9EB3DCE41B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053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648956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241738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3CC3083-A26C-4FFF-ABB9-A52A975CA5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" fmla="*/ 0 w 6924675"/>
              <a:gd name="connsiteY0" fmla="*/ 0 h 6858000"/>
              <a:gd name="connsiteX1" fmla="*/ 568642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" fmla="*/ 0 w 6924675"/>
              <a:gd name="connsiteY0" fmla="*/ 0 h 6858000"/>
              <a:gd name="connsiteX1" fmla="*/ 628332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" fmla="*/ 0 w 7508875"/>
              <a:gd name="connsiteY0" fmla="*/ 0 h 6858000"/>
              <a:gd name="connsiteX1" fmla="*/ 6283325 w 7508875"/>
              <a:gd name="connsiteY1" fmla="*/ 0 h 6858000"/>
              <a:gd name="connsiteX2" fmla="*/ 7508875 w 7508875"/>
              <a:gd name="connsiteY2" fmla="*/ 6858000 h 6858000"/>
              <a:gd name="connsiteX3" fmla="*/ 0 w 7508875"/>
              <a:gd name="connsiteY3" fmla="*/ 6858000 h 6858000"/>
              <a:gd name="connsiteX4" fmla="*/ 0 w 750887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967086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6D9D1B83-BB64-4D87-85E3-7B792A9EDE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084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26D725AF-5383-4E5D-A2D3-3FABBEC0B6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0753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>
            <a:extLst>
              <a:ext uri="{FF2B5EF4-FFF2-40B4-BE49-F238E27FC236}">
                <a16:creationId xmlns:a16="http://schemas.microsoft.com/office/drawing/2014/main" id="{2664A485-C158-4BFC-B46D-7201DF28B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tx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161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79737FE-1C79-470F-BA5B-0406C5992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7061B13-C907-4A87-B55A-8284A73D5D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A048EAF-9787-48D5-83DB-543645FD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55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E4E10E8-4BB9-460B-9BDB-62195F7C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0C75E21A-6BBF-4B32-A70F-301838EEE2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tx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5A73340-69A4-498B-8B80-80BE3D077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EB2E58B-9728-4374-A113-BCFD69F635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5307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03FB50-6373-4EEB-AE2A-E41E5293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7056120"/>
            <a:ext cx="23070503" cy="2307050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997200"/>
            <a:ext cx="10972800" cy="719138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1" y="4297679"/>
            <a:ext cx="10972800" cy="1544321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790176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03FB50-6373-4EEB-AE2A-E41E5293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158240" y="-6925627"/>
            <a:ext cx="14660880" cy="1466088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D88D79D-95E0-48C6-B019-1226D5FFE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1F6757A7-BF21-40B3-87C7-F536EB125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52513"/>
            <a:ext cx="109728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8A27A73C-FDCC-408D-8A9B-5EBAC19162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10972800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493732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369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" name="Grafik 7">
            <a:extLst>
              <a:ext uri="{FF2B5EF4-FFF2-40B4-BE49-F238E27FC236}">
                <a16:creationId xmlns:a16="http://schemas.microsoft.com/office/drawing/2014/main" id="{ACAEB40F-408E-4739-B8F1-87C3D3468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-5498743" y="-5465484"/>
            <a:ext cx="17788812" cy="17788968"/>
            <a:chOff x="-14264640" y="-3715061"/>
            <a:chExt cx="22488583" cy="22488781"/>
          </a:xfrm>
          <a:solidFill>
            <a:schemeClr val="accent2"/>
          </a:solidFill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A195269A-E3C2-4E88-93E3-F49E631252D9}"/>
                </a:ext>
              </a:extLst>
            </p:cNvPr>
            <p:cNvSpPr/>
            <p:nvPr/>
          </p:nvSpPr>
          <p:spPr>
            <a:xfrm>
              <a:off x="-7293192" y="-3715061"/>
              <a:ext cx="15517136" cy="14730115"/>
            </a:xfrm>
            <a:custGeom>
              <a:avLst/>
              <a:gdLst>
                <a:gd name="connsiteX0" fmla="*/ 15517137 w 15517136"/>
                <a:gd name="connsiteY0" fmla="*/ 13362007 h 14730115"/>
                <a:gd name="connsiteX1" fmla="*/ 7758668 w 15517136"/>
                <a:gd name="connsiteY1" fmla="*/ 14730115 h 14730115"/>
                <a:gd name="connsiteX2" fmla="*/ 7758668 w 15517136"/>
                <a:gd name="connsiteY2" fmla="*/ 7758667 h 14730115"/>
                <a:gd name="connsiteX3" fmla="*/ 0 w 15517136"/>
                <a:gd name="connsiteY3" fmla="*/ 0 h 14730115"/>
                <a:gd name="connsiteX4" fmla="*/ 8930316 w 15517136"/>
                <a:gd name="connsiteY4" fmla="*/ 198 h 14730115"/>
                <a:gd name="connsiteX5" fmla="*/ 15517137 w 15517136"/>
                <a:gd name="connsiteY5" fmla="*/ 6586821 h 14730115"/>
                <a:gd name="connsiteX6" fmla="*/ 15517137 w 15517136"/>
                <a:gd name="connsiteY6" fmla="*/ 13362007 h 14730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17136" h="14730115">
                  <a:moveTo>
                    <a:pt x="15517137" y="13362007"/>
                  </a:moveTo>
                  <a:lnTo>
                    <a:pt x="7758668" y="14730115"/>
                  </a:lnTo>
                  <a:lnTo>
                    <a:pt x="7758668" y="7758667"/>
                  </a:lnTo>
                  <a:lnTo>
                    <a:pt x="0" y="0"/>
                  </a:lnTo>
                  <a:lnTo>
                    <a:pt x="8930316" y="198"/>
                  </a:lnTo>
                  <a:lnTo>
                    <a:pt x="15517137" y="6586821"/>
                  </a:lnTo>
                  <a:lnTo>
                    <a:pt x="15517137" y="13362007"/>
                  </a:lnTo>
                  <a:close/>
                </a:path>
              </a:pathLst>
            </a:custGeom>
            <a:grpFill/>
            <a:ln w="197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1539E4E4-5E00-4985-8757-11EFDE979DB4}"/>
                </a:ext>
              </a:extLst>
            </p:cNvPr>
            <p:cNvSpPr/>
            <p:nvPr/>
          </p:nvSpPr>
          <p:spPr>
            <a:xfrm>
              <a:off x="-14264640" y="4043604"/>
              <a:ext cx="15517334" cy="14730114"/>
            </a:xfrm>
            <a:custGeom>
              <a:avLst/>
              <a:gdLst>
                <a:gd name="connsiteX0" fmla="*/ 0 w 15517334"/>
                <a:gd name="connsiteY0" fmla="*/ 1368109 h 14730114"/>
                <a:gd name="connsiteX1" fmla="*/ 7758470 w 15517334"/>
                <a:gd name="connsiteY1" fmla="*/ 0 h 14730114"/>
                <a:gd name="connsiteX2" fmla="*/ 7758470 w 15517334"/>
                <a:gd name="connsiteY2" fmla="*/ 6971449 h 14730114"/>
                <a:gd name="connsiteX3" fmla="*/ 15517335 w 15517334"/>
                <a:gd name="connsiteY3" fmla="*/ 14730115 h 14730114"/>
                <a:gd name="connsiteX4" fmla="*/ 6586822 w 15517334"/>
                <a:gd name="connsiteY4" fmla="*/ 14730115 h 14730114"/>
                <a:gd name="connsiteX5" fmla="*/ 0 w 15517334"/>
                <a:gd name="connsiteY5" fmla="*/ 8143294 h 14730114"/>
                <a:gd name="connsiteX6" fmla="*/ 0 w 15517334"/>
                <a:gd name="connsiteY6" fmla="*/ 1368109 h 1473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17334" h="14730114">
                  <a:moveTo>
                    <a:pt x="0" y="1368109"/>
                  </a:moveTo>
                  <a:lnTo>
                    <a:pt x="7758470" y="0"/>
                  </a:lnTo>
                  <a:lnTo>
                    <a:pt x="7758470" y="6971449"/>
                  </a:lnTo>
                  <a:lnTo>
                    <a:pt x="15517335" y="14730115"/>
                  </a:lnTo>
                  <a:lnTo>
                    <a:pt x="6586822" y="14730115"/>
                  </a:lnTo>
                  <a:lnTo>
                    <a:pt x="0" y="8143294"/>
                  </a:lnTo>
                  <a:lnTo>
                    <a:pt x="0" y="1368109"/>
                  </a:lnTo>
                  <a:close/>
                </a:path>
              </a:pathLst>
            </a:custGeom>
            <a:grpFill/>
            <a:ln w="197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599" y="1052513"/>
            <a:ext cx="7250113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09599" y="2286952"/>
            <a:ext cx="7250113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965121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B1607CC-7926-42F8-A9D4-9EB30CCC4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475330"/>
            <a:ext cx="44978353" cy="318086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600" y="1052513"/>
            <a:ext cx="4441826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09600" y="2286952"/>
            <a:ext cx="4441826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D72FC72-0865-4AAF-8322-C3045B84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0039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26BB01A-29ED-4144-A31A-DD51B5606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445953" y="-7589795"/>
            <a:ext cx="39323474" cy="233685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052513"/>
            <a:ext cx="53340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5334000" cy="108965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C077647-9C5F-4C27-93BC-289003A54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5642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AAA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A585B0F-EAE3-4972-B2DD-61B691A3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568399" y="-22289839"/>
            <a:ext cx="37239647" cy="53967254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53F19BAF-18FD-44C8-85CA-F8853215C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52513"/>
            <a:ext cx="109728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7CA3D32E-E2F8-4C0E-AF41-451C832967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10972800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DA0901FF-14F3-43C6-9205-4A412557C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294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BB6767-F2B8-4BAA-BF07-3F9A160B3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484427" y="-5069549"/>
            <a:ext cx="18380919" cy="1821111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5"/>
            <a:ext cx="10972800" cy="914400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107565"/>
            <a:ext cx="10972800" cy="87376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961879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D9BDB7B-ED04-48F9-A597-5D65D94A3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-4760594" y="-4145914"/>
            <a:ext cx="17099914" cy="17099914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61728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ariabel + Bil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1974DA36-F6FF-4071-9FE9-C71612DFE9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9AD44A7-FBE6-494B-B2A9-85542E1AE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2633468" y="-5918273"/>
            <a:ext cx="18354113" cy="18354113"/>
          </a:xfrm>
          <a:prstGeom prst="rect">
            <a:avLst/>
          </a:prstGeom>
        </p:spPr>
      </p:pic>
      <p:pic>
        <p:nvPicPr>
          <p:cNvPr id="4" name="Grafik 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1CBF57BC-B38C-414F-92BB-F40579F88EE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B2B44DCF-A510-4A00-82ED-05FBF8B59E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16388" y="6207760"/>
            <a:ext cx="5599112" cy="286068"/>
          </a:xfrm>
        </p:spPr>
        <p:txBody>
          <a:bodyPr anchor="b" anchorCtr="0"/>
          <a:lstStyle>
            <a:lvl1pPr>
              <a:defRPr sz="1200" i="0">
                <a:solidFill>
                  <a:schemeClr val="bg1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80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ariabel + Bild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1974DA36-F6FF-4071-9FE9-C71612DFE9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ED2FBAC-C92F-4FEA-8170-E94EC94CC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500000">
            <a:off x="-4681402" y="-7532589"/>
            <a:ext cx="21582744" cy="21582744"/>
          </a:xfrm>
          <a:prstGeom prst="rect">
            <a:avLst/>
          </a:prstGeom>
        </p:spPr>
      </p:pic>
      <p:pic>
        <p:nvPicPr>
          <p:cNvPr id="4" name="Grafik 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79C7FCDB-8A5F-4D8C-B998-2CC83B8C89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FFB4AAEC-A7C5-4365-B424-8E68D40435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8926" y="6177280"/>
            <a:ext cx="5581650" cy="31654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6576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ariabel + Bild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752599"/>
            <a:ext cx="4441825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459102"/>
            <a:ext cx="4441824" cy="138289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7B07D508-A251-41EA-8DE7-63892057591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267325" y="0"/>
            <a:ext cx="10255588" cy="6858000"/>
          </a:xfrm>
          <a:custGeom>
            <a:avLst/>
            <a:gdLst>
              <a:gd name="connsiteX0" fmla="*/ 0 w 10255588"/>
              <a:gd name="connsiteY0" fmla="*/ 0 h 6858000"/>
              <a:gd name="connsiteX1" fmla="*/ 10255588 w 10255588"/>
              <a:gd name="connsiteY1" fmla="*/ 0 h 6858000"/>
              <a:gd name="connsiteX2" fmla="*/ 10255588 w 10255588"/>
              <a:gd name="connsiteY2" fmla="*/ 6858000 h 6858000"/>
              <a:gd name="connsiteX3" fmla="*/ 1215823 w 10255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55588" h="6858000">
                <a:moveTo>
                  <a:pt x="0" y="0"/>
                </a:moveTo>
                <a:lnTo>
                  <a:pt x="10255588" y="0"/>
                </a:lnTo>
                <a:lnTo>
                  <a:pt x="10255588" y="6858000"/>
                </a:lnTo>
                <a:lnTo>
                  <a:pt x="1215823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5365122-AA94-4D9A-8BDB-BC7E3297FD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96338" y="6057900"/>
            <a:ext cx="2786062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11" name="Grafik 10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3CEFA202-FC75-4BA0-ACC7-222E3B636E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65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5E54477-AC5B-4EB3-AE9F-0854A752BD2F}"/>
              </a:ext>
            </a:extLst>
          </p:cNvPr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Logistics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Lab WiSe2025/26 • Anh Le Xuan, Moritz Engelmann, Max Berthold, Henrik Stein • Seite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‹Nr.›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15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705" r:id="rId3"/>
    <p:sldLayoutId id="2147483780" r:id="rId4"/>
    <p:sldLayoutId id="2147483781" r:id="rId5"/>
    <p:sldLayoutId id="2147483782" r:id="rId6"/>
    <p:sldLayoutId id="2147483783" r:id="rId7"/>
    <p:sldLayoutId id="2147483776" r:id="rId8"/>
    <p:sldLayoutId id="2147483784" r:id="rId9"/>
    <p:sldLayoutId id="2147483785" r:id="rId10"/>
    <p:sldLayoutId id="2147483769" r:id="rId11"/>
    <p:sldLayoutId id="2147483778" r:id="rId12"/>
    <p:sldLayoutId id="2147483779" r:id="rId13"/>
    <p:sldLayoutId id="2147483710" r:id="rId14"/>
    <p:sldLayoutId id="2147483652" r:id="rId15"/>
    <p:sldLayoutId id="2147483709" r:id="rId16"/>
    <p:sldLayoutId id="2147483656" r:id="rId17"/>
    <p:sldLayoutId id="2147483665" r:id="rId18"/>
    <p:sldLayoutId id="2147483657" r:id="rId19"/>
    <p:sldLayoutId id="2147483666" r:id="rId20"/>
    <p:sldLayoutId id="2147483654" r:id="rId21"/>
    <p:sldLayoutId id="2147483655" r:id="rId22"/>
    <p:sldLayoutId id="2147483694" r:id="rId23"/>
    <p:sldLayoutId id="2147483695" r:id="rId24"/>
    <p:sldLayoutId id="2147483696" r:id="rId25"/>
    <p:sldLayoutId id="2147483777" r:id="rId26"/>
    <p:sldLayoutId id="2147483771" r:id="rId27"/>
    <p:sldLayoutId id="2147483772" r:id="rId28"/>
    <p:sldLayoutId id="2147483773" r:id="rId29"/>
    <p:sldLayoutId id="2147483775" r:id="rId30"/>
    <p:sldLayoutId id="2147483774" r:id="rId3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  <p15:guide id="36" orient="horz" pos="3543" userDrawn="1">
          <p15:clr>
            <a:srgbClr val="F26B43"/>
          </p15:clr>
        </p15:guide>
        <p15:guide id="37" orient="horz" pos="197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13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06" r:id="rId8"/>
    <p:sldLayoutId id="2147483767" r:id="rId9"/>
    <p:sldLayoutId id="2147483768" r:id="rId10"/>
    <p:sldLayoutId id="214748377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3" orient="horz" pos="1888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5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h-lxn/logisticsLab" TargetMode="Externa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9.xml"/><Relationship Id="rId5" Type="http://schemas.openxmlformats.org/officeDocument/2006/relationships/hyperlink" Target="https://github.com/anh-lxn/logisticsLab/tree/main/src" TargetMode="External"/><Relationship Id="rId4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SebastianLague" TargetMode="External"/><Relationship Id="rId2" Type="http://schemas.openxmlformats.org/officeDocument/2006/relationships/hyperlink" Target="https://www.researchgate.net/publication/367415289_Study_vehicle_routing_problem_using_Nearest_Neighbor_Algorithm" TargetMode="External"/><Relationship Id="rId1" Type="http://schemas.openxmlformats.org/officeDocument/2006/relationships/slideLayout" Target="../slideLayouts/slideLayout29.xml"/><Relationship Id="rId4" Type="http://schemas.openxmlformats.org/officeDocument/2006/relationships/hyperlink" Target="https://github.com/AndreWeiner/ml-cfd-lectu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92127-A6D4-4DE7-B042-2AE843D731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Logistics</a:t>
            </a:r>
            <a:r>
              <a:rPr lang="de-DE" dirty="0"/>
              <a:t> Lab </a:t>
            </a:r>
            <a:r>
              <a:rPr lang="de-DE" dirty="0" err="1"/>
              <a:t>WiSe</a:t>
            </a:r>
            <a:r>
              <a:rPr lang="de-DE" dirty="0"/>
              <a:t> 2025/26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91F6330-C39B-4485-AD3C-BF8578A251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Anh Le Xuan, Moritz Engelmann, Max Berthold, Henrik Stein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3C57DC0-CDAD-4228-BA26-3D1CE1558B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Stand 16.12.2025</a:t>
            </a:r>
          </a:p>
        </p:txBody>
      </p:sp>
    </p:spTree>
    <p:extLst>
      <p:ext uri="{BB962C8B-B14F-4D97-AF65-F5344CB8AC3E}">
        <p14:creationId xmlns:p14="http://schemas.microsoft.com/office/powerpoint/2010/main" val="748245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0FF68764-1122-4848-ADDD-58EA605AA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800" b="1" u="sng" dirty="0"/>
              <a:t>Aufgabe 1</a:t>
            </a:r>
          </a:p>
        </p:txBody>
      </p:sp>
      <p:pic>
        <p:nvPicPr>
          <p:cNvPr id="3" name="Inhaltsplatzhalter 2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F92CA9B7-70E5-104F-CB4D-27E420966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28" y="1374086"/>
            <a:ext cx="5479769" cy="4109827"/>
          </a:xfrm>
        </p:spPr>
      </p:pic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59DEBC8E-8EB3-A3EE-588F-3442F653C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651769"/>
            <a:ext cx="4476186" cy="2687111"/>
          </a:xfrm>
          <a:prstGeom prst="rect">
            <a:avLst/>
          </a:prstGeom>
        </p:spPr>
      </p:pic>
      <p:pic>
        <p:nvPicPr>
          <p:cNvPr id="9" name="Grafik 8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82D623D0-E6CC-5778-510F-230B70EC7C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95325"/>
            <a:ext cx="4476185" cy="2687111"/>
          </a:xfrm>
          <a:prstGeom prst="rect">
            <a:avLst/>
          </a:prstGeom>
        </p:spPr>
      </p:pic>
      <p:sp>
        <p:nvSpPr>
          <p:cNvPr id="16" name="Pfeil: gebogen 15">
            <a:extLst>
              <a:ext uri="{FF2B5EF4-FFF2-40B4-BE49-F238E27FC236}">
                <a16:creationId xmlns:a16="http://schemas.microsoft.com/office/drawing/2014/main" id="{7977CFCE-E8ED-BF31-5F83-F945E9C805AD}"/>
              </a:ext>
            </a:extLst>
          </p:cNvPr>
          <p:cNvSpPr/>
          <p:nvPr/>
        </p:nvSpPr>
        <p:spPr>
          <a:xfrm>
            <a:off x="4677032" y="871151"/>
            <a:ext cx="1186249" cy="647700"/>
          </a:xfrm>
          <a:prstGeom prst="ben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7" name="Pfeil: nach links gekrümmt 16">
            <a:extLst>
              <a:ext uri="{FF2B5EF4-FFF2-40B4-BE49-F238E27FC236}">
                <a16:creationId xmlns:a16="http://schemas.microsoft.com/office/drawing/2014/main" id="{D0BE5DF7-8477-E440-EDF4-5E4769A1D136}"/>
              </a:ext>
            </a:extLst>
          </p:cNvPr>
          <p:cNvSpPr/>
          <p:nvPr/>
        </p:nvSpPr>
        <p:spPr>
          <a:xfrm>
            <a:off x="10779210" y="2921094"/>
            <a:ext cx="718752" cy="1015810"/>
          </a:xfrm>
          <a:prstGeom prst="curvedLef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80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2B22282-4FAE-44F9-AFE1-5CAEEEC27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74145" y="387728"/>
            <a:ext cx="3506788" cy="2755076"/>
          </a:xfrm>
        </p:spPr>
        <p:txBody>
          <a:bodyPr/>
          <a:lstStyle/>
          <a:p>
            <a:pPr algn="ctr"/>
            <a:r>
              <a:rPr lang="de-DE" sz="4800" b="1" dirty="0" err="1"/>
              <a:t>Bruteforce</a:t>
            </a:r>
            <a:endParaRPr lang="de-DE" sz="4800" b="1" dirty="0"/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337CF1D6-11C5-4C66-AA47-CDD85456F9AD}"/>
              </a:ext>
            </a:extLst>
          </p:cNvPr>
          <p:cNvGrpSpPr/>
          <p:nvPr/>
        </p:nvGrpSpPr>
        <p:grpSpPr>
          <a:xfrm>
            <a:off x="2719184" y="1163975"/>
            <a:ext cx="6120016" cy="4809449"/>
            <a:chOff x="745916" y="1003383"/>
            <a:chExt cx="2976946" cy="2425617"/>
          </a:xfrm>
        </p:grpSpPr>
        <p:pic>
          <p:nvPicPr>
            <p:cNvPr id="3" name="Inhaltsplatzhalter 2" descr="Ein Bild, das Text, Diagramm, Reihe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B6627577-BAFE-371F-5DEF-CF3399EF0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953"/>
            <a:stretch>
              <a:fillRect/>
            </a:stretch>
          </p:blipFill>
          <p:spPr>
            <a:xfrm>
              <a:off x="745916" y="1003383"/>
              <a:ext cx="2976946" cy="2425617"/>
            </a:xfrm>
            <a:prstGeom prst="rect">
              <a:avLst/>
            </a:prstGeom>
          </p:spPr>
        </p:pic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F34E4EE7-ABF4-2873-8400-EDA66406C7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7843" y="1810265"/>
              <a:ext cx="691979" cy="10812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2EDB0807-04E6-6791-D9DC-7DDA94008D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10714" y="2273643"/>
              <a:ext cx="0" cy="6178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5920DFE8-9FBA-A905-612C-838F7F513B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1250" y="2719388"/>
              <a:ext cx="1053927" cy="2095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5" name="Gerade Verbindung mit Pfeil 24">
              <a:extLst>
                <a:ext uri="{FF2B5EF4-FFF2-40B4-BE49-F238E27FC236}">
                  <a16:creationId xmlns:a16="http://schemas.microsoft.com/office/drawing/2014/main" id="{C178D6A5-FADD-2BC0-48A6-1E1553F4E3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0725" y="2938463"/>
              <a:ext cx="2542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8" name="Gerade Verbindung mit Pfeil 27">
              <a:extLst>
                <a:ext uri="{FF2B5EF4-FFF2-40B4-BE49-F238E27FC236}">
                  <a16:creationId xmlns:a16="http://schemas.microsoft.com/office/drawing/2014/main" id="{B58A5711-5519-06B8-54B9-4FE96DDF83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5888" y="1810265"/>
              <a:ext cx="893934" cy="10812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0" name="Gerade Verbindung mit Pfeil 29">
              <a:extLst>
                <a:ext uri="{FF2B5EF4-FFF2-40B4-BE49-F238E27FC236}">
                  <a16:creationId xmlns:a16="http://schemas.microsoft.com/office/drawing/2014/main" id="{F571F515-AD00-A68F-D4B1-22E3C4ECCB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10714" y="1810265"/>
              <a:ext cx="372266" cy="10812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3" name="Gerade Verbindung mit Pfeil 32">
              <a:extLst>
                <a:ext uri="{FF2B5EF4-FFF2-40B4-BE49-F238E27FC236}">
                  <a16:creationId xmlns:a16="http://schemas.microsoft.com/office/drawing/2014/main" id="{7C6D8B18-BC26-0913-D31A-D0F896A781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10713" y="1579313"/>
              <a:ext cx="0" cy="13189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E95E39C4-68D3-7A5C-AEE7-5C131698E9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33832" y="1579313"/>
              <a:ext cx="353797" cy="13121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9" name="Gerade Verbindung mit Pfeil 38">
              <a:extLst>
                <a:ext uri="{FF2B5EF4-FFF2-40B4-BE49-F238E27FC236}">
                  <a16:creationId xmlns:a16="http://schemas.microsoft.com/office/drawing/2014/main" id="{B76E1C1B-67B6-480B-2895-357B2685D9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50357" y="1579313"/>
              <a:ext cx="1080351" cy="13121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3" name="Grafik 52">
            <a:extLst>
              <a:ext uri="{FF2B5EF4-FFF2-40B4-BE49-F238E27FC236}">
                <a16:creationId xmlns:a16="http://schemas.microsoft.com/office/drawing/2014/main" id="{CCE1A6DE-D858-9504-E4FF-E026C3FE24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4518" y="2282096"/>
            <a:ext cx="2573206" cy="257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487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EBE60-0640-A29F-74DA-DCD508482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nhaltsplatzhalter 43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2C6BF998-A4DB-F6EF-2D27-EC17D6065C5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9" t="22812"/>
          <a:stretch>
            <a:fillRect/>
          </a:stretch>
        </p:blipFill>
        <p:spPr>
          <a:xfrm>
            <a:off x="3208020" y="1360076"/>
            <a:ext cx="6294842" cy="4675973"/>
          </a:xfrm>
          <a:prstGeom prst="rect">
            <a:avLst/>
          </a:prstGeom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4B51DE9-F9C2-0506-CD5E-77550EE6B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477644"/>
            <a:ext cx="12192000" cy="1234435"/>
          </a:xfrm>
        </p:spPr>
        <p:txBody>
          <a:bodyPr/>
          <a:lstStyle/>
          <a:p>
            <a:pPr algn="ctr"/>
            <a:r>
              <a:rPr lang="de-DE" sz="4800" b="1" dirty="0"/>
              <a:t>k-</a:t>
            </a:r>
            <a:r>
              <a:rPr lang="de-DE" sz="4800" b="1" dirty="0" err="1"/>
              <a:t>Nearest</a:t>
            </a:r>
            <a:r>
              <a:rPr lang="de-DE" sz="4800" b="1" dirty="0"/>
              <a:t>-</a:t>
            </a:r>
            <a:r>
              <a:rPr lang="de-DE" sz="4800" b="1" dirty="0" err="1"/>
              <a:t>Neighbor</a:t>
            </a:r>
            <a:r>
              <a:rPr lang="de-DE" sz="4800" b="1" dirty="0"/>
              <a:t> (</a:t>
            </a:r>
            <a:r>
              <a:rPr lang="de-DE" sz="4800" b="1" dirty="0" err="1"/>
              <a:t>kNN</a:t>
            </a:r>
            <a:r>
              <a:rPr lang="de-DE" sz="4800" b="1" dirty="0"/>
              <a:t>)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F7B5B83-DFCD-FEAB-CEF9-1B040FD44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053" y="2186940"/>
            <a:ext cx="2134004" cy="238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50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2F61FF7-1988-4EC0-88B0-739AEA6AAE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2020" y="5528913"/>
            <a:ext cx="4389120" cy="441588"/>
          </a:xfrm>
        </p:spPr>
        <p:txBody>
          <a:bodyPr/>
          <a:lstStyle/>
          <a:p>
            <a:pPr algn="l"/>
            <a:r>
              <a:rPr lang="de-DE" sz="1050" dirty="0"/>
              <a:t>https://www.researchgate.net/publication/367415289_Study_vehicle_routing_problem_using_Nearest_Neighbor_Algorithm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F28AAD1-6CA3-C9FC-86FA-2BE2CE5CC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20" y="1108293"/>
            <a:ext cx="4389120" cy="44543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B1DFA4BB-B239-550E-2DCB-87802AF33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1660" y="2023658"/>
            <a:ext cx="6248400" cy="2810684"/>
          </a:xfrm>
        </p:spPr>
        <p:txBody>
          <a:bodyPr/>
          <a:lstStyle/>
          <a:p>
            <a:r>
              <a:rPr lang="en-US" b="1" dirty="0"/>
              <a:t>Paper: </a:t>
            </a:r>
            <a:r>
              <a:rPr lang="en-US" dirty="0"/>
              <a:t>Study vehicle routing problem using Nearest Neighbor Algorithm</a:t>
            </a:r>
          </a:p>
          <a:p>
            <a:r>
              <a:rPr lang="en-US" b="1" dirty="0"/>
              <a:t>Autor: </a:t>
            </a:r>
            <a:r>
              <a:rPr lang="en-US" dirty="0"/>
              <a:t>Rio </a:t>
            </a:r>
            <a:r>
              <a:rPr lang="en-US" dirty="0" err="1"/>
              <a:t>Ferdiani</a:t>
            </a:r>
            <a:r>
              <a:rPr lang="en-US" dirty="0"/>
              <a:t> </a:t>
            </a:r>
            <a:r>
              <a:rPr lang="en-US" dirty="0" err="1"/>
              <a:t>Harahap</a:t>
            </a:r>
            <a:r>
              <a:rPr lang="en-US" dirty="0"/>
              <a:t> and </a:t>
            </a:r>
            <a:r>
              <a:rPr lang="en-US" dirty="0" err="1"/>
              <a:t>Sawaluddin</a:t>
            </a:r>
            <a:endParaRPr lang="en-US" dirty="0"/>
          </a:p>
          <a:p>
            <a:r>
              <a:rPr lang="de-DE" b="1" dirty="0"/>
              <a:t>Jahr: </a:t>
            </a:r>
            <a:r>
              <a:rPr lang="de-DE" dirty="0"/>
              <a:t>2023</a:t>
            </a:r>
          </a:p>
          <a:p>
            <a:r>
              <a:rPr lang="de-DE" b="1" dirty="0"/>
              <a:t>Quelle: </a:t>
            </a:r>
            <a:r>
              <a:rPr lang="en-US" dirty="0"/>
              <a:t>Journal of Physics: Conference Series</a:t>
            </a:r>
            <a:endParaRPr lang="de-DE" dirty="0"/>
          </a:p>
          <a:p>
            <a:r>
              <a:rPr lang="de-DE" b="1" dirty="0"/>
              <a:t>Konferenz: </a:t>
            </a:r>
            <a:r>
              <a:rPr lang="en-US" dirty="0"/>
              <a:t>2nd TALENTA-International Conference on Science and Technology</a:t>
            </a:r>
            <a:endParaRPr lang="de-DE" b="1" dirty="0"/>
          </a:p>
          <a:p>
            <a:endParaRPr lang="en-US" dirty="0"/>
          </a:p>
        </p:txBody>
      </p:sp>
      <p:sp>
        <p:nvSpPr>
          <p:cNvPr id="7" name="Inhaltsplatzhalter 4">
            <a:extLst>
              <a:ext uri="{FF2B5EF4-FFF2-40B4-BE49-F238E27FC236}">
                <a16:creationId xmlns:a16="http://schemas.microsoft.com/office/drawing/2014/main" id="{FB078685-9699-D92D-9348-283FA27FA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2980" y="198424"/>
            <a:ext cx="9631680" cy="817756"/>
          </a:xfrm>
        </p:spPr>
        <p:txBody>
          <a:bodyPr/>
          <a:lstStyle/>
          <a:p>
            <a:pPr algn="ctr"/>
            <a:r>
              <a:rPr lang="de-DE" sz="4800" b="1" dirty="0"/>
              <a:t>Vehicle Routing Problem</a:t>
            </a:r>
          </a:p>
        </p:txBody>
      </p:sp>
    </p:spTree>
    <p:extLst>
      <p:ext uri="{BB962C8B-B14F-4D97-AF65-F5344CB8AC3E}">
        <p14:creationId xmlns:p14="http://schemas.microsoft.com/office/powerpoint/2010/main" val="3649898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292F0-BEAF-8FFC-CDD3-35E6750DE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B86DC816-6832-FA46-9A41-25F841B78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90" y="1813552"/>
            <a:ext cx="3962391" cy="363219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C91255F-201B-817C-69B4-0FB9785BA0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2429" y="1813552"/>
            <a:ext cx="3962392" cy="3632192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009202B-C30F-2E47-3C7D-49F230CACA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069" y="1813552"/>
            <a:ext cx="3962392" cy="3632192"/>
          </a:xfrm>
          <a:prstGeom prst="rect">
            <a:avLst/>
          </a:prstGeom>
        </p:spPr>
      </p:pic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86A479E0-9B69-E395-C603-64EA3BA2C260}"/>
              </a:ext>
            </a:extLst>
          </p:cNvPr>
          <p:cNvSpPr txBox="1">
            <a:spLocks/>
          </p:cNvSpPr>
          <p:nvPr/>
        </p:nvSpPr>
        <p:spPr>
          <a:xfrm>
            <a:off x="967740" y="465005"/>
            <a:ext cx="9631680" cy="817756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33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05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" indent="-3429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Open Sans" panose="020B0606030504020204" pitchFamily="34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14350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" indent="-1143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Char char="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0100" indent="-1143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4800" b="1" dirty="0" err="1"/>
              <a:t>kNN</a:t>
            </a:r>
            <a:r>
              <a:rPr lang="de-DE" sz="4800" b="1" dirty="0"/>
              <a:t> – Variante 1</a:t>
            </a:r>
          </a:p>
        </p:txBody>
      </p:sp>
    </p:spTree>
    <p:extLst>
      <p:ext uri="{BB962C8B-B14F-4D97-AF65-F5344CB8AC3E}">
        <p14:creationId xmlns:p14="http://schemas.microsoft.com/office/powerpoint/2010/main" val="358871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6AE42-14CC-18EA-CB46-2110A01C0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C4989A33-06A2-8649-E0A8-2829A0F73D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4790" y="1813552"/>
            <a:ext cx="3962391" cy="363219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40A965A-7CCE-5563-B6D3-260F3B8621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2429" y="1813552"/>
            <a:ext cx="3962391" cy="3632192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24994718-4768-F170-2BB8-DD2A3E28B6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00069" y="1813552"/>
            <a:ext cx="3962391" cy="3632192"/>
          </a:xfrm>
          <a:prstGeom prst="rect">
            <a:avLst/>
          </a:prstGeom>
        </p:spPr>
      </p:pic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39CEDE2C-CB2B-60AF-C684-7EAD78D679E5}"/>
              </a:ext>
            </a:extLst>
          </p:cNvPr>
          <p:cNvSpPr txBox="1">
            <a:spLocks/>
          </p:cNvSpPr>
          <p:nvPr/>
        </p:nvSpPr>
        <p:spPr>
          <a:xfrm>
            <a:off x="967740" y="465005"/>
            <a:ext cx="9631680" cy="817756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33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05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" indent="-3429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Open Sans" panose="020B0606030504020204" pitchFamily="34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14350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" indent="-1143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Char char="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0100" indent="-1143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4800" b="1" dirty="0" err="1"/>
              <a:t>kNN</a:t>
            </a:r>
            <a:r>
              <a:rPr lang="de-DE" sz="4800" b="1" dirty="0"/>
              <a:t> – Variante 2</a:t>
            </a:r>
          </a:p>
        </p:txBody>
      </p:sp>
    </p:spTree>
    <p:extLst>
      <p:ext uri="{BB962C8B-B14F-4D97-AF65-F5344CB8AC3E}">
        <p14:creationId xmlns:p14="http://schemas.microsoft.com/office/powerpoint/2010/main" val="2396835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6AEC1-4A99-7DFD-8BE0-8B94E9942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DE3F9EED-62F9-23E0-2439-D31AC8E31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6430" y="1719584"/>
            <a:ext cx="3962390" cy="363219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8DD5B84-3584-1B7A-3B63-45C0C09197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4069" y="1719584"/>
            <a:ext cx="3962391" cy="3632191"/>
          </a:xfrm>
          <a:prstGeom prst="rect">
            <a:avLst/>
          </a:prstGeom>
        </p:spPr>
      </p:pic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7CF0328B-EAFA-9924-3A45-2D0DEBFB02B0}"/>
              </a:ext>
            </a:extLst>
          </p:cNvPr>
          <p:cNvSpPr txBox="1">
            <a:spLocks/>
          </p:cNvSpPr>
          <p:nvPr/>
        </p:nvSpPr>
        <p:spPr>
          <a:xfrm>
            <a:off x="967740" y="465005"/>
            <a:ext cx="9631680" cy="817756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33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05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" indent="-3429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Open Sans" panose="020B0606030504020204" pitchFamily="34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14350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" indent="-1143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Char char="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0100" indent="-1143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4800" b="1" dirty="0" err="1"/>
              <a:t>kNN</a:t>
            </a:r>
            <a:r>
              <a:rPr lang="de-DE" sz="4800" b="1" dirty="0"/>
              <a:t> – Variante 3</a:t>
            </a:r>
          </a:p>
        </p:txBody>
      </p:sp>
    </p:spTree>
    <p:extLst>
      <p:ext uri="{BB962C8B-B14F-4D97-AF65-F5344CB8AC3E}">
        <p14:creationId xmlns:p14="http://schemas.microsoft.com/office/powerpoint/2010/main" val="885803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1DDE7-EFD9-7E80-FA5B-BFE7127D8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D6675AE0-81AD-303E-FB43-15006CCBB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7380" y="1282761"/>
            <a:ext cx="7978139" cy="4653913"/>
          </a:xfrm>
          <a:prstGeom prst="rect">
            <a:avLst/>
          </a:prstGeom>
        </p:spPr>
      </p:pic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4D683301-6AC3-5698-2A8A-B4D693800D61}"/>
              </a:ext>
            </a:extLst>
          </p:cNvPr>
          <p:cNvSpPr txBox="1">
            <a:spLocks/>
          </p:cNvSpPr>
          <p:nvPr/>
        </p:nvSpPr>
        <p:spPr>
          <a:xfrm>
            <a:off x="967740" y="465005"/>
            <a:ext cx="9631680" cy="817756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33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05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" indent="-3429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Open Sans" panose="020B0606030504020204" pitchFamily="34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14350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" indent="-1143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Char char="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0100" indent="-1143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4800" b="1" dirty="0" err="1"/>
              <a:t>kNN</a:t>
            </a:r>
            <a:r>
              <a:rPr lang="de-DE" sz="4800" b="1" dirty="0"/>
              <a:t> – Variante 3</a:t>
            </a:r>
          </a:p>
        </p:txBody>
      </p:sp>
    </p:spTree>
    <p:extLst>
      <p:ext uri="{BB962C8B-B14F-4D97-AF65-F5344CB8AC3E}">
        <p14:creationId xmlns:p14="http://schemas.microsoft.com/office/powerpoint/2010/main" val="267658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5C80-C158-D0CA-826E-CA5E4A5AA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2F0C4D51-26A1-9E6E-831B-588B83D33F55}"/>
              </a:ext>
            </a:extLst>
          </p:cNvPr>
          <p:cNvSpPr txBox="1">
            <a:spLocks/>
          </p:cNvSpPr>
          <p:nvPr/>
        </p:nvSpPr>
        <p:spPr>
          <a:xfrm>
            <a:off x="967740" y="465005"/>
            <a:ext cx="9631680" cy="817756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33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05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" indent="-3429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Open Sans" panose="020B0606030504020204" pitchFamily="34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14350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" indent="-1143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Char char="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0100" indent="-1143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4800" b="1" dirty="0" err="1"/>
              <a:t>kNN</a:t>
            </a:r>
            <a:r>
              <a:rPr lang="de-DE" sz="4800" b="1" dirty="0"/>
              <a:t> – Ergebnisse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5DAEBF0-E9A2-8844-F075-D8531CFA8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333"/>
          <a:stretch>
            <a:fillRect/>
          </a:stretch>
        </p:blipFill>
        <p:spPr>
          <a:xfrm>
            <a:off x="1520766" y="1592580"/>
            <a:ext cx="9150468" cy="431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72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CF6EB-71E7-F157-BCF9-74D965CA8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B74DD9EF-2E00-1BD4-538F-E1513F2D1E74}"/>
              </a:ext>
            </a:extLst>
          </p:cNvPr>
          <p:cNvSpPr txBox="1">
            <a:spLocks/>
          </p:cNvSpPr>
          <p:nvPr/>
        </p:nvSpPr>
        <p:spPr>
          <a:xfrm>
            <a:off x="967740" y="465005"/>
            <a:ext cx="9631680" cy="817756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33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05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" indent="-3429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Open Sans" panose="020B0606030504020204" pitchFamily="34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14350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" indent="-1143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Char char="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0100" indent="-1143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4800" b="1" dirty="0" err="1"/>
              <a:t>kNN</a:t>
            </a:r>
            <a:r>
              <a:rPr lang="de-DE" sz="4800" b="1" dirty="0"/>
              <a:t> – Ergebnisse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F0A1721-A2FA-FF6F-1DC4-B682D38EB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964" b="32845"/>
          <a:stretch>
            <a:fillRect/>
          </a:stretch>
        </p:blipFill>
        <p:spPr>
          <a:xfrm>
            <a:off x="1520766" y="1493520"/>
            <a:ext cx="9150468" cy="425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946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1A897-1C22-61EC-A09A-2BAEA9CC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41C03C61-4449-A7CC-A27B-F3376EF79313}"/>
              </a:ext>
            </a:extLst>
          </p:cNvPr>
          <p:cNvSpPr txBox="1">
            <a:spLocks/>
          </p:cNvSpPr>
          <p:nvPr/>
        </p:nvSpPr>
        <p:spPr>
          <a:xfrm>
            <a:off x="967740" y="465005"/>
            <a:ext cx="9631680" cy="817756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33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05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" indent="-3429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Open Sans" panose="020B0606030504020204" pitchFamily="34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14350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" indent="-1143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Char char="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0100" indent="-1143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4800" b="1" dirty="0" err="1"/>
              <a:t>kNN</a:t>
            </a:r>
            <a:r>
              <a:rPr lang="de-DE" sz="4800" b="1" dirty="0"/>
              <a:t> – Ergebnisse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B8A14F2-88EF-E026-78D6-150138EA3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51" b="-1239"/>
          <a:stretch>
            <a:fillRect/>
          </a:stretch>
        </p:blipFill>
        <p:spPr>
          <a:xfrm>
            <a:off x="1348740" y="1348740"/>
            <a:ext cx="9150468" cy="429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491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77D5B-4134-BFCD-70BF-A92EF4B64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3B0C8906-4753-A32E-4BFC-1D133FD6B513}"/>
              </a:ext>
            </a:extLst>
          </p:cNvPr>
          <p:cNvSpPr txBox="1">
            <a:spLocks/>
          </p:cNvSpPr>
          <p:nvPr/>
        </p:nvSpPr>
        <p:spPr>
          <a:xfrm>
            <a:off x="967740" y="465005"/>
            <a:ext cx="9631680" cy="817756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33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05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" indent="-3429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Open Sans" panose="020B0606030504020204" pitchFamily="34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14350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" indent="-1143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Char char="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0100" indent="-1143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4800" b="1" dirty="0" err="1"/>
              <a:t>kNN</a:t>
            </a:r>
            <a:r>
              <a:rPr lang="de-DE" sz="4800" b="1" dirty="0"/>
              <a:t> – Vergleich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4FDB1BD-50E1-44F0-4F2A-EC7D752EE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280" y="1363980"/>
            <a:ext cx="48006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17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000B0-A0F4-F857-7B57-6D7E0D083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4F5ADBD-C93F-A40C-AE6D-CEB8F3D8B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-2152912" y="334099"/>
            <a:ext cx="12192000" cy="1234435"/>
          </a:xfrm>
        </p:spPr>
        <p:txBody>
          <a:bodyPr/>
          <a:lstStyle/>
          <a:p>
            <a:pPr algn="ctr"/>
            <a:r>
              <a:rPr lang="de-DE" sz="4800" b="1" dirty="0"/>
              <a:t>Ant Colony </a:t>
            </a:r>
            <a:r>
              <a:rPr lang="de-DE" sz="4800" b="1" dirty="0" err="1"/>
              <a:t>Algorithm</a:t>
            </a:r>
            <a:endParaRPr lang="de-DE" sz="4800" b="1" dirty="0"/>
          </a:p>
        </p:txBody>
      </p: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AC0896EF-26FE-F162-B214-FE31B623DB21}"/>
              </a:ext>
            </a:extLst>
          </p:cNvPr>
          <p:cNvGrpSpPr/>
          <p:nvPr/>
        </p:nvGrpSpPr>
        <p:grpSpPr>
          <a:xfrm>
            <a:off x="373194" y="1180157"/>
            <a:ext cx="5600245" cy="4390063"/>
            <a:chOff x="2719184" y="1163975"/>
            <a:chExt cx="6120016" cy="4809449"/>
          </a:xfrm>
        </p:grpSpPr>
        <p:pic>
          <p:nvPicPr>
            <p:cNvPr id="6" name="Inhaltsplatzhalter 2" descr="Ein Bild, das Text, Diagramm, Reihe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3EEB85F8-B63E-CB68-3F6B-7E416AB80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953"/>
            <a:stretch>
              <a:fillRect/>
            </a:stretch>
          </p:blipFill>
          <p:spPr>
            <a:xfrm>
              <a:off x="2719184" y="1163975"/>
              <a:ext cx="6120016" cy="4809449"/>
            </a:xfrm>
            <a:prstGeom prst="rect">
              <a:avLst/>
            </a:prstGeom>
          </p:spPr>
        </p:pic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4B8F2CD-9659-6655-9943-448DD94887E0}"/>
                </a:ext>
              </a:extLst>
            </p:cNvPr>
            <p:cNvCxnSpPr>
              <a:cxnSpLocks/>
            </p:cNvCxnSpPr>
            <p:nvPr/>
          </p:nvCxnSpPr>
          <p:spPr>
            <a:xfrm>
              <a:off x="5212080" y="4983480"/>
              <a:ext cx="647700" cy="0"/>
            </a:xfrm>
            <a:prstGeom prst="line">
              <a:avLst/>
            </a:prstGeom>
            <a:ln w="2857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AE1C48EC-190D-E207-DA33-0407B97038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6940" y="4526280"/>
              <a:ext cx="2286000" cy="457200"/>
            </a:xfrm>
            <a:prstGeom prst="line">
              <a:avLst/>
            </a:prstGeom>
            <a:ln w="2857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BA4579F4-AD94-8678-192C-B3688D414B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2940" y="2209800"/>
              <a:ext cx="0" cy="2316480"/>
            </a:xfrm>
            <a:prstGeom prst="line">
              <a:avLst/>
            </a:prstGeom>
            <a:ln w="2857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1277B94B-759E-A8E9-730D-C7A6090F39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1320" y="2209800"/>
              <a:ext cx="1531620" cy="441960"/>
            </a:xfrm>
            <a:prstGeom prst="line">
              <a:avLst/>
            </a:prstGeom>
            <a:ln w="2857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B3FBE422-D433-2C3D-2376-A4A5E7D3A1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96940" y="2669600"/>
              <a:ext cx="754380" cy="899099"/>
            </a:xfrm>
            <a:prstGeom prst="line">
              <a:avLst/>
            </a:prstGeom>
            <a:ln w="2857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21F0DB83-82A6-D706-C241-3AF7C4081A36}"/>
                </a:ext>
              </a:extLst>
            </p:cNvPr>
            <p:cNvCxnSpPr>
              <a:cxnSpLocks/>
            </p:cNvCxnSpPr>
            <p:nvPr/>
          </p:nvCxnSpPr>
          <p:spPr>
            <a:xfrm>
              <a:off x="5950353" y="2209800"/>
              <a:ext cx="0" cy="1358899"/>
            </a:xfrm>
            <a:prstGeom prst="line">
              <a:avLst/>
            </a:prstGeom>
            <a:ln w="2857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DD8179BA-D16C-4722-2CFD-EC7323EFC340}"/>
                </a:ext>
              </a:extLst>
            </p:cNvPr>
            <p:cNvCxnSpPr>
              <a:cxnSpLocks/>
            </p:cNvCxnSpPr>
            <p:nvPr/>
          </p:nvCxnSpPr>
          <p:spPr>
            <a:xfrm>
              <a:off x="4003588" y="2676891"/>
              <a:ext cx="1124672" cy="2306589"/>
            </a:xfrm>
            <a:prstGeom prst="line">
              <a:avLst/>
            </a:prstGeom>
            <a:ln w="2857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9B3C0D2D-07E2-090C-6999-38C4FA0C23B0}"/>
                </a:ext>
              </a:extLst>
            </p:cNvPr>
            <p:cNvCxnSpPr>
              <a:cxnSpLocks/>
            </p:cNvCxnSpPr>
            <p:nvPr/>
          </p:nvCxnSpPr>
          <p:spPr>
            <a:xfrm>
              <a:off x="3957002" y="2676891"/>
              <a:ext cx="378778" cy="0"/>
            </a:xfrm>
            <a:prstGeom prst="line">
              <a:avLst/>
            </a:prstGeom>
            <a:ln w="2857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80F989D7-59EF-1A10-5A38-CA948EF9EB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0184" y="2209800"/>
              <a:ext cx="768076" cy="444231"/>
            </a:xfrm>
            <a:prstGeom prst="line">
              <a:avLst/>
            </a:prstGeom>
            <a:ln w="2857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1E31F030-CD2D-5512-3ACB-FFC0E73857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3020" y="2186940"/>
              <a:ext cx="853779" cy="22859"/>
            </a:xfrm>
            <a:prstGeom prst="line">
              <a:avLst/>
            </a:prstGeom>
            <a:ln w="2857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46" name="Grafik 45">
            <a:extLst>
              <a:ext uri="{FF2B5EF4-FFF2-40B4-BE49-F238E27FC236}">
                <a16:creationId xmlns:a16="http://schemas.microsoft.com/office/drawing/2014/main" id="{E3345DBE-96F6-DC07-3333-3432068FF5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7678749" y="106950"/>
            <a:ext cx="1488768" cy="1461584"/>
          </a:xfrm>
          <a:prstGeom prst="rect">
            <a:avLst/>
          </a:prstGeom>
        </p:spPr>
      </p:pic>
      <p:pic>
        <p:nvPicPr>
          <p:cNvPr id="48" name="Grafik 47" descr="Ein Bild, das Text, Screenshot, Multimedia-Software, Software enthält.">
            <a:extLst>
              <a:ext uri="{FF2B5EF4-FFF2-40B4-BE49-F238E27FC236}">
                <a16:creationId xmlns:a16="http://schemas.microsoft.com/office/drawing/2014/main" id="{0E7828B6-CDFF-9D59-ABE8-C7E765A088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8287" y="2585152"/>
            <a:ext cx="3085778" cy="3328232"/>
          </a:xfrm>
          <a:prstGeom prst="rect">
            <a:avLst/>
          </a:prstGeom>
        </p:spPr>
      </p:pic>
      <p:sp>
        <p:nvSpPr>
          <p:cNvPr id="49" name="Textplatzhalter 4">
            <a:extLst>
              <a:ext uri="{FF2B5EF4-FFF2-40B4-BE49-F238E27FC236}">
                <a16:creationId xmlns:a16="http://schemas.microsoft.com/office/drawing/2014/main" id="{122EDDE0-E31D-BE8D-B942-78422A1CE972}"/>
              </a:ext>
            </a:extLst>
          </p:cNvPr>
          <p:cNvSpPr txBox="1">
            <a:spLocks/>
          </p:cNvSpPr>
          <p:nvPr/>
        </p:nvSpPr>
        <p:spPr>
          <a:xfrm>
            <a:off x="6808852" y="5998494"/>
            <a:ext cx="3228561" cy="359017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33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05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" indent="-3429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Open Sans" panose="020B0606030504020204" pitchFamily="34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14350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" indent="-1143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Char char="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0100" indent="-1143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50" dirty="0">
                <a:solidFill>
                  <a:schemeClr val="tx2"/>
                </a:solidFill>
              </a:rPr>
              <a:t>https://github.com/SebLague/Ant-Simulation</a:t>
            </a:r>
          </a:p>
        </p:txBody>
      </p:sp>
      <p:pic>
        <p:nvPicPr>
          <p:cNvPr id="52" name="Grafik 51" descr="Ein Bild, das Text, Säugetier, Hunderasse, Screenshot enthält.&#10;&#10;KI-generierte Inhalte können fehlerhaft sein.">
            <a:extLst>
              <a:ext uri="{FF2B5EF4-FFF2-40B4-BE49-F238E27FC236}">
                <a16:creationId xmlns:a16="http://schemas.microsoft.com/office/drawing/2014/main" id="{E55CB20D-EC65-82E2-C3EC-CA5EDEF274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1151" y="1967786"/>
            <a:ext cx="3316137" cy="123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635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F3C2F-CE23-C528-3525-C5568A5C4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F6E6A85-210A-3369-F7BD-89F073CDC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800" b="1" u="sng" dirty="0"/>
              <a:t>Aufgabe 2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BC643DD-20E4-F2A2-B62B-2C794CCB5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1128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4">
            <a:extLst>
              <a:ext uri="{FF2B5EF4-FFF2-40B4-BE49-F238E27FC236}">
                <a16:creationId xmlns:a16="http://schemas.microsoft.com/office/drawing/2014/main" id="{D6C79936-167F-BE8C-1260-F41808EB5958}"/>
              </a:ext>
            </a:extLst>
          </p:cNvPr>
          <p:cNvSpPr txBox="1">
            <a:spLocks/>
          </p:cNvSpPr>
          <p:nvPr/>
        </p:nvSpPr>
        <p:spPr>
          <a:xfrm>
            <a:off x="624840" y="311239"/>
            <a:ext cx="11209020" cy="123443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33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05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" indent="-3429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Open Sans" panose="020B0606030504020204" pitchFamily="34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14350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" indent="-1143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Char char="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0100" indent="-1143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b="1" dirty="0"/>
              <a:t>Dokumentation			Code</a:t>
            </a:r>
          </a:p>
        </p:txBody>
      </p:sp>
      <p:pic>
        <p:nvPicPr>
          <p:cNvPr id="10" name="Grafik 9" descr="Ein Bild, das Text, Screensho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C69FAD44-0798-E907-2E9E-63639E41C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18" y="1240876"/>
            <a:ext cx="4810722" cy="3667154"/>
          </a:xfrm>
          <a:prstGeom prst="rect">
            <a:avLst/>
          </a:prstGeom>
        </p:spPr>
      </p:pic>
      <p:sp>
        <p:nvSpPr>
          <p:cNvPr id="13" name="Textplatzhalter 1">
            <a:extLst>
              <a:ext uri="{FF2B5EF4-FFF2-40B4-BE49-F238E27FC236}">
                <a16:creationId xmlns:a16="http://schemas.microsoft.com/office/drawing/2014/main" id="{A840482E-454C-4371-949C-1464AFE0DB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840" y="5340435"/>
            <a:ext cx="3204210" cy="382186"/>
          </a:xfrm>
        </p:spPr>
        <p:txBody>
          <a:bodyPr/>
          <a:lstStyle/>
          <a:p>
            <a:r>
              <a:rPr lang="de-DE" sz="1400" dirty="0">
                <a:hlinkClick r:id="rId3"/>
              </a:rPr>
              <a:t>https://github.com/anh-lxn/logisticsLab</a:t>
            </a:r>
            <a:r>
              <a:rPr lang="de-DE" sz="1400" dirty="0"/>
              <a:t> 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E7289EB-4289-52E2-5EAF-4C46D4E7C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1690830"/>
            <a:ext cx="5261663" cy="2767245"/>
          </a:xfrm>
          <a:prstGeom prst="rect">
            <a:avLst/>
          </a:prstGeom>
        </p:spPr>
      </p:pic>
      <p:sp>
        <p:nvSpPr>
          <p:cNvPr id="21" name="Textplatzhalter 1">
            <a:extLst>
              <a:ext uri="{FF2B5EF4-FFF2-40B4-BE49-F238E27FC236}">
                <a16:creationId xmlns:a16="http://schemas.microsoft.com/office/drawing/2014/main" id="{9C5A9297-1D38-975B-D47E-566A767CD2CF}"/>
              </a:ext>
            </a:extLst>
          </p:cNvPr>
          <p:cNvSpPr txBox="1">
            <a:spLocks/>
          </p:cNvSpPr>
          <p:nvPr/>
        </p:nvSpPr>
        <p:spPr>
          <a:xfrm>
            <a:off x="6229350" y="4603231"/>
            <a:ext cx="4648200" cy="3821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3600" b="0" i="1" kern="1200" dirty="0">
                <a:solidFill>
                  <a:schemeClr val="tx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33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05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" indent="-3429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Open Sans" panose="020B0606030504020204" pitchFamily="34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14350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" indent="-1143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Char char="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0100" indent="-1143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400" dirty="0">
                <a:hlinkClick r:id="rId5"/>
              </a:rPr>
              <a:t>https://github.com/anh-lxn/logisticsLab/tree/main/src</a:t>
            </a:r>
            <a:r>
              <a:rPr lang="de-DE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97229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13E48-D545-441F-B0B9-048F6A8EA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EE9C493-E795-0892-D097-4E460C9E75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1990" y="1545674"/>
            <a:ext cx="11094720" cy="325586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b="1" dirty="0" err="1"/>
              <a:t>Harahap</a:t>
            </a:r>
            <a:r>
              <a:rPr lang="en-US" sz="1400" b="1" dirty="0"/>
              <a:t>, R. F., &amp; </a:t>
            </a:r>
            <a:r>
              <a:rPr lang="en-US" sz="1400" b="1" dirty="0" err="1"/>
              <a:t>Sawaluddin</a:t>
            </a:r>
            <a:r>
              <a:rPr lang="en-US" sz="1400" b="1" dirty="0"/>
              <a:t> (2023):</a:t>
            </a:r>
            <a:br>
              <a:rPr lang="en-US" sz="1400" dirty="0"/>
            </a:br>
            <a:r>
              <a:rPr lang="en-US" sz="1400" dirty="0"/>
              <a:t>Study vehicle routing problem using Nearest Neighbor Algorithm.</a:t>
            </a:r>
            <a:br>
              <a:rPr lang="en-US" sz="1400" dirty="0"/>
            </a:br>
            <a:r>
              <a:rPr lang="en-US" sz="1400" dirty="0"/>
              <a:t>Journal of Physics: Conference Series, 2421, 012027.</a:t>
            </a:r>
            <a:br>
              <a:rPr lang="en-US" sz="1400" dirty="0"/>
            </a:br>
            <a:r>
              <a:rPr lang="en-US" sz="1400" dirty="0" err="1"/>
              <a:t>doi</a:t>
            </a:r>
            <a:r>
              <a:rPr lang="en-US" sz="1400" dirty="0"/>
              <a:t>: 10.1088/1742-6596/2421/1/012027</a:t>
            </a:r>
            <a:br>
              <a:rPr lang="en-US" sz="1400" dirty="0"/>
            </a:br>
            <a:r>
              <a:rPr lang="en-US" sz="1400" dirty="0" err="1"/>
              <a:t>ReserachGate</a:t>
            </a:r>
            <a:r>
              <a:rPr lang="en-US" sz="1400" dirty="0"/>
              <a:t>: </a:t>
            </a:r>
            <a:r>
              <a:rPr lang="en-US" sz="1400" dirty="0">
                <a:hlinkClick r:id="rId2"/>
              </a:rPr>
              <a:t>https://www.researchgate.net/publication/367415289_Study_vehicle_routing_problem_using_Nearest_Neighbor_Algorithm</a:t>
            </a:r>
            <a:r>
              <a:rPr lang="en-US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1400" b="1" dirty="0" err="1"/>
              <a:t>Lague</a:t>
            </a:r>
            <a:r>
              <a:rPr lang="de-DE" sz="1400" b="1" dirty="0"/>
              <a:t>, S. (2021):</a:t>
            </a:r>
            <a:br>
              <a:rPr lang="de-DE" sz="1400" dirty="0"/>
            </a:br>
            <a:r>
              <a:rPr lang="en-US" sz="1400" dirty="0"/>
              <a:t>Coding Adventure: Ant and Slime Simulations</a:t>
            </a:r>
            <a:br>
              <a:rPr lang="de-DE" sz="1400" dirty="0"/>
            </a:br>
            <a:r>
              <a:rPr lang="de-DE" sz="1400" dirty="0"/>
              <a:t>YouTube: Sebastian </a:t>
            </a:r>
            <a:r>
              <a:rPr lang="de-DE" sz="1400" dirty="0" err="1"/>
              <a:t>Lague</a:t>
            </a:r>
            <a:r>
              <a:rPr lang="de-DE" sz="1400" dirty="0"/>
              <a:t>: </a:t>
            </a:r>
            <a:r>
              <a:rPr lang="de-DE" sz="1400" dirty="0">
                <a:hlinkClick r:id="rId3"/>
              </a:rPr>
              <a:t>https://www.youtube.com/@SebastianLague</a:t>
            </a:r>
            <a:r>
              <a:rPr lang="de-DE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1400" b="1" dirty="0"/>
              <a:t>Weiner, A. (2021)</a:t>
            </a:r>
            <a:br>
              <a:rPr lang="de-DE" sz="1400" b="1" dirty="0"/>
            </a:br>
            <a:r>
              <a:rPr lang="en-US" sz="1400" dirty="0"/>
              <a:t>ML-CFD Lecture – Surrogate Modeling for Discrete and Continuous Predictions (Lectures 4&amp;5)</a:t>
            </a:r>
            <a:br>
              <a:rPr lang="en-US" sz="1400" dirty="0"/>
            </a:br>
            <a:r>
              <a:rPr lang="en-US" sz="1400" dirty="0"/>
              <a:t>GitHub-Repository: </a:t>
            </a:r>
            <a:r>
              <a:rPr lang="en-US" sz="1400" dirty="0">
                <a:hlinkClick r:id="rId4"/>
              </a:rPr>
              <a:t>https://github.com/AndreWeiner/ml-cfd-lecture</a:t>
            </a:r>
            <a:r>
              <a:rPr lang="en-US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1400" b="1" dirty="0"/>
              <a:t>OpenAI (ChatGPT) &amp; GitHub Copilot (2025)</a:t>
            </a:r>
            <a:br>
              <a:rPr lang="de-DE" sz="1400" b="1" dirty="0"/>
            </a:br>
            <a:r>
              <a:rPr lang="de-DE" sz="1400" dirty="0"/>
              <a:t>Einsatz als Hilfsmittel für Code-Nachfragen, Code-</a:t>
            </a:r>
            <a:r>
              <a:rPr lang="de-DE" sz="1400" dirty="0" err="1"/>
              <a:t>Cleanup</a:t>
            </a:r>
            <a:r>
              <a:rPr lang="de-DE" sz="1400" dirty="0"/>
              <a:t> und Erläuterungen; keine inhaltliche Autorenschaft</a:t>
            </a:r>
            <a:br>
              <a:rPr lang="de-DE" sz="1400" b="1" dirty="0"/>
            </a:br>
            <a:endParaRPr lang="de-DE" sz="1400" b="1" dirty="0"/>
          </a:p>
        </p:txBody>
      </p:sp>
      <p:sp>
        <p:nvSpPr>
          <p:cNvPr id="4" name="Inhaltsplatzhalter 4">
            <a:extLst>
              <a:ext uri="{FF2B5EF4-FFF2-40B4-BE49-F238E27FC236}">
                <a16:creationId xmlns:a16="http://schemas.microsoft.com/office/drawing/2014/main" id="{1DA7F5F8-0751-599D-7AE5-61C153C822BC}"/>
              </a:ext>
            </a:extLst>
          </p:cNvPr>
          <p:cNvSpPr txBox="1">
            <a:spLocks/>
          </p:cNvSpPr>
          <p:nvPr/>
        </p:nvSpPr>
        <p:spPr>
          <a:xfrm>
            <a:off x="624840" y="311239"/>
            <a:ext cx="11209020" cy="123443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33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05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" indent="-3429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Open Sans" panose="020B0606030504020204" pitchFamily="34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14350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" indent="-1143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Char char="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0100" indent="-1143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b="1"/>
              <a:t>Literatur &amp; Quellen</a:t>
            </a:r>
            <a:endParaRPr lang="de-DE" sz="4800" b="1" dirty="0"/>
          </a:p>
        </p:txBody>
      </p:sp>
    </p:spTree>
    <p:extLst>
      <p:ext uri="{BB962C8B-B14F-4D97-AF65-F5344CB8AC3E}">
        <p14:creationId xmlns:p14="http://schemas.microsoft.com/office/powerpoint/2010/main" val="2072719099"/>
      </p:ext>
    </p:extLst>
  </p:cSld>
  <p:clrMapOvr>
    <a:masterClrMapping/>
  </p:clrMapOvr>
</p:sld>
</file>

<file path=ppt/theme/theme1.xml><?xml version="1.0" encoding="utf-8"?>
<a:theme xmlns:a="http://schemas.openxmlformats.org/drawingml/2006/main" name="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4" id="{C62B1945-B232-4D8E-83C4-1C28F4DDAD5B}" vid="{32C1D9BE-417C-408C-A28B-CED54DF0D5EE}"/>
    </a:ext>
  </a:extLst>
</a:theme>
</file>

<file path=ppt/theme/theme2.xml><?xml version="1.0" encoding="utf-8"?>
<a:theme xmlns:a="http://schemas.openxmlformats.org/drawingml/2006/main" name="Seiten mit Shape variabel">
  <a:themeElements>
    <a:clrScheme name="TUD_2025_Blau-Türkis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00005A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4" id="{C62B1945-B232-4D8E-83C4-1C28F4DDAD5B}" vid="{909DA9C9-A2EB-4BB3-951B-D893662D66AB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251202_TUD_Präsentationsvorlage_DE_16zu9_leer</Template>
  <TotalTime>0</TotalTime>
  <Words>322</Words>
  <Application>Microsoft Office PowerPoint</Application>
  <PresentationFormat>Breitbild</PresentationFormat>
  <Paragraphs>32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17</vt:i4>
      </vt:variant>
    </vt:vector>
  </HeadingPairs>
  <TitlesOfParts>
    <vt:vector size="28" baseType="lpstr">
      <vt:lpstr>Arial</vt:lpstr>
      <vt:lpstr>Calibri</vt:lpstr>
      <vt:lpstr>Noto Sans</vt:lpstr>
      <vt:lpstr>Noto Sans Medium</vt:lpstr>
      <vt:lpstr>Noto Serif</vt:lpstr>
      <vt:lpstr>Noto Serif Light</vt:lpstr>
      <vt:lpstr>Open Sans</vt:lpstr>
      <vt:lpstr>Symbol</vt:lpstr>
      <vt:lpstr>Wingdings</vt:lpstr>
      <vt:lpstr>TUD Standard_20 pt</vt:lpstr>
      <vt:lpstr>Seiten mit Shape variabel</vt:lpstr>
      <vt:lpstr>Logistics Lab WiSe 2025/26</vt:lpstr>
      <vt:lpstr>Aufgabe 1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Aufgabe 2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Anh Le Xuan</dc:creator>
  <cp:lastModifiedBy>Anh Le Xuan</cp:lastModifiedBy>
  <cp:revision>6</cp:revision>
  <dcterms:created xsi:type="dcterms:W3CDTF">2025-12-16T08:36:06Z</dcterms:created>
  <dcterms:modified xsi:type="dcterms:W3CDTF">2025-12-16T10:43:18Z</dcterms:modified>
</cp:coreProperties>
</file>